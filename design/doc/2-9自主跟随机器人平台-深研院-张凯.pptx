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2"/>
    <p:sldId id="14998309" r:id="rId3"/>
    <p:sldId id="14998310" r:id="rId4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8" userDrawn="1">
          <p15:clr>
            <a:srgbClr val="A4A3A4"/>
          </p15:clr>
        </p15:guide>
        <p15:guide id="2" pos="38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9D92"/>
    <a:srgbClr val="30C0B4"/>
    <a:srgbClr val="46294B"/>
    <a:srgbClr val="3A3A3A"/>
    <a:srgbClr val="FFD42A"/>
    <a:srgbClr val="8794AF"/>
    <a:srgbClr val="70B8B1"/>
    <a:srgbClr val="7596D9"/>
    <a:srgbClr val="D2D7E1"/>
    <a:srgbClr val="D3E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16" autoAdjust="0"/>
    <p:restoredTop sz="97446" autoAdjust="0"/>
  </p:normalViewPr>
  <p:slideViewPr>
    <p:cSldViewPr snapToGrid="0" showGuides="1">
      <p:cViewPr varScale="1">
        <p:scale>
          <a:sx n="128" d="100"/>
          <a:sy n="128" d="100"/>
        </p:scale>
        <p:origin x="888" y="184"/>
      </p:cViewPr>
      <p:guideLst>
        <p:guide orient="horz" pos="2218"/>
        <p:guide pos="38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85" d="100"/>
        <a:sy n="85" d="100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574" y="24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866274"/>
          </a:xfrm>
          <a:prstGeom prst="rect">
            <a:avLst/>
          </a:prstGeom>
          <a:gradFill>
            <a:gsLst>
              <a:gs pos="16000">
                <a:srgbClr val="7030A0"/>
              </a:gs>
              <a:gs pos="100000">
                <a:srgbClr val="5779CD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hqprint"/>
          <a:stretch>
            <a:fillRect/>
          </a:stretch>
        </p:blipFill>
        <p:spPr>
          <a:xfrm>
            <a:off x="9127482" y="199785"/>
            <a:ext cx="2944411" cy="4907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0"/>
            <a:ext cx="12192000" cy="866274"/>
          </a:xfrm>
          <a:prstGeom prst="rect">
            <a:avLst/>
          </a:prstGeom>
          <a:gradFill>
            <a:gsLst>
              <a:gs pos="16000">
                <a:srgbClr val="7030A0"/>
              </a:gs>
              <a:gs pos="100000">
                <a:srgbClr val="5779CD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0" y="6571489"/>
            <a:ext cx="12192000" cy="286512"/>
          </a:xfrm>
          <a:prstGeom prst="rect">
            <a:avLst/>
          </a:prstGeom>
          <a:gradFill>
            <a:gsLst>
              <a:gs pos="0">
                <a:srgbClr val="7030A0">
                  <a:alpha val="46819"/>
                </a:srgbClr>
              </a:gs>
              <a:gs pos="100000">
                <a:schemeClr val="accent1">
                  <a:alpha val="19978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hqprint"/>
          <a:stretch>
            <a:fillRect/>
          </a:stretch>
        </p:blipFill>
        <p:spPr>
          <a:xfrm>
            <a:off x="9127482" y="199785"/>
            <a:ext cx="2944411" cy="4907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3.emf"/><Relationship Id="rId5" Type="http://schemas.openxmlformats.org/officeDocument/2006/relationships/tags" Target="../tags/tag5.xml"/><Relationship Id="rId10" Type="http://schemas.openxmlformats.org/officeDocument/2006/relationships/image" Target="../media/image2.jpeg"/><Relationship Id="rId4" Type="http://schemas.openxmlformats.org/officeDocument/2006/relationships/tags" Target="../tags/tag4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0" cstate="screen"/>
          <a:stretch>
            <a:fillRect/>
          </a:stretch>
        </p:blipFill>
        <p:spPr>
          <a:xfrm>
            <a:off x="-129934" y="-128952"/>
            <a:ext cx="12543276" cy="7064422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-27253" y="0"/>
            <a:ext cx="12443822" cy="6882130"/>
          </a:xfrm>
          <a:prstGeom prst="rect">
            <a:avLst/>
          </a:pr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59" name="Freeform 5"/>
          <p:cNvSpPr/>
          <p:nvPr>
            <p:custDataLst>
              <p:tags r:id="rId1"/>
            </p:custDataLst>
          </p:nvPr>
        </p:nvSpPr>
        <p:spPr bwMode="auto">
          <a:xfrm>
            <a:off x="-53340" y="-27305"/>
            <a:ext cx="12268835" cy="6962775"/>
          </a:xfrm>
          <a:custGeom>
            <a:avLst/>
            <a:gdLst>
              <a:gd name="connsiteX0" fmla="*/ 3653 w 19269"/>
              <a:gd name="connsiteY0" fmla="*/ 0 h 10965"/>
              <a:gd name="connsiteX1" fmla="*/ 32 w 19269"/>
              <a:gd name="connsiteY1" fmla="*/ 3708 h 10965"/>
              <a:gd name="connsiteX2" fmla="*/ 0 w 19269"/>
              <a:gd name="connsiteY2" fmla="*/ 10965 h 10965"/>
              <a:gd name="connsiteX3" fmla="*/ 8730 w 19269"/>
              <a:gd name="connsiteY3" fmla="*/ 10965 h 10965"/>
              <a:gd name="connsiteX4" fmla="*/ 19269 w 19269"/>
              <a:gd name="connsiteY4" fmla="*/ 0 h 10965"/>
              <a:gd name="connsiteX5" fmla="*/ 3653 w 19269"/>
              <a:gd name="connsiteY5" fmla="*/ 0 h 10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0" t="0" r="r" b="b"/>
            <a:pathLst>
              <a:path w="19269" h="10965">
                <a:moveTo>
                  <a:pt x="3653" y="0"/>
                </a:moveTo>
                <a:lnTo>
                  <a:pt x="32" y="3708"/>
                </a:lnTo>
                <a:lnTo>
                  <a:pt x="0" y="10965"/>
                </a:lnTo>
                <a:lnTo>
                  <a:pt x="8730" y="10965"/>
                </a:lnTo>
                <a:lnTo>
                  <a:pt x="19269" y="0"/>
                </a:lnTo>
                <a:lnTo>
                  <a:pt x="3653" y="0"/>
                </a:lnTo>
                <a:close/>
              </a:path>
            </a:pathLst>
          </a:custGeom>
          <a:gradFill flip="none" rotWithShape="1">
            <a:gsLst>
              <a:gs pos="0">
                <a:srgbClr val="7030A0">
                  <a:alpha val="43607"/>
                </a:srgbClr>
              </a:gs>
              <a:gs pos="100000">
                <a:schemeClr val="accent1">
                  <a:alpha val="56265"/>
                </a:schemeClr>
              </a:gs>
            </a:gsLst>
            <a:lin ang="162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b="1" dirty="0">
              <a:latin typeface="微软雅黑" panose="020B0503020204020204" pitchFamily="34" charset="-122"/>
            </a:endParaRPr>
          </a:p>
        </p:txBody>
      </p:sp>
      <p:sp>
        <p:nvSpPr>
          <p:cNvPr id="60" name="Freeform 6"/>
          <p:cNvSpPr/>
          <p:nvPr>
            <p:custDataLst>
              <p:tags r:id="rId2"/>
            </p:custDataLst>
          </p:nvPr>
        </p:nvSpPr>
        <p:spPr bwMode="auto">
          <a:xfrm>
            <a:off x="-53340" y="0"/>
            <a:ext cx="2736215" cy="2665730"/>
          </a:xfrm>
          <a:custGeom>
            <a:avLst/>
            <a:gdLst>
              <a:gd name="T0" fmla="*/ 359 w 447"/>
              <a:gd name="T1" fmla="*/ 0 h 455"/>
              <a:gd name="T2" fmla="*/ 0 w 447"/>
              <a:gd name="T3" fmla="*/ 365 h 455"/>
              <a:gd name="T4" fmla="*/ 0 w 447"/>
              <a:gd name="T5" fmla="*/ 455 h 455"/>
              <a:gd name="T6" fmla="*/ 447 w 447"/>
              <a:gd name="T7" fmla="*/ 0 h 455"/>
              <a:gd name="T8" fmla="*/ 359 w 447"/>
              <a:gd name="T9" fmla="*/ 0 h 4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455">
                <a:moveTo>
                  <a:pt x="359" y="0"/>
                </a:moveTo>
                <a:lnTo>
                  <a:pt x="0" y="365"/>
                </a:lnTo>
                <a:lnTo>
                  <a:pt x="0" y="455"/>
                </a:lnTo>
                <a:lnTo>
                  <a:pt x="447" y="0"/>
                </a:lnTo>
                <a:lnTo>
                  <a:pt x="359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rgbClr val="7030A0"/>
              </a:gs>
            </a:gsLst>
            <a:lin ang="162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b="1" dirty="0">
              <a:latin typeface="微软雅黑" panose="020B0503020204020204" pitchFamily="34" charset="-122"/>
            </a:endParaRPr>
          </a:p>
        </p:txBody>
      </p:sp>
      <p:sp>
        <p:nvSpPr>
          <p:cNvPr id="61" name="Freeform 7"/>
          <p:cNvSpPr/>
          <p:nvPr>
            <p:custDataLst>
              <p:tags r:id="rId3"/>
            </p:custDataLst>
          </p:nvPr>
        </p:nvSpPr>
        <p:spPr bwMode="auto">
          <a:xfrm rot="10800000">
            <a:off x="-93345" y="-64770"/>
            <a:ext cx="2311400" cy="2311400"/>
          </a:xfrm>
          <a:custGeom>
            <a:avLst/>
            <a:gdLst>
              <a:gd name="connsiteX0" fmla="*/ 3640 w 3640"/>
              <a:gd name="connsiteY0" fmla="*/ 0 h 3640"/>
              <a:gd name="connsiteX1" fmla="*/ 0 w 3640"/>
              <a:gd name="connsiteY1" fmla="*/ 3640 h 3640"/>
              <a:gd name="connsiteX2" fmla="*/ 3640 w 3640"/>
              <a:gd name="connsiteY2" fmla="*/ 3581 h 3640"/>
              <a:gd name="connsiteX3" fmla="*/ 3640 w 3640"/>
              <a:gd name="connsiteY3" fmla="*/ 0 h 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0" t="0" r="r" b="b"/>
            <a:pathLst>
              <a:path w="3640" h="3640">
                <a:moveTo>
                  <a:pt x="3640" y="0"/>
                </a:moveTo>
                <a:lnTo>
                  <a:pt x="0" y="3640"/>
                </a:lnTo>
                <a:lnTo>
                  <a:pt x="3640" y="3581"/>
                </a:lnTo>
                <a:lnTo>
                  <a:pt x="364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85000">
                <a:srgbClr val="A36393">
                  <a:alpha val="57000"/>
                </a:srgbClr>
              </a:gs>
            </a:gsLst>
            <a:lin ang="162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b="1" dirty="0">
              <a:latin typeface="微软雅黑" panose="020B0503020204020204" pitchFamily="34" charset="-122"/>
            </a:endParaRPr>
          </a:p>
        </p:txBody>
      </p:sp>
      <p:sp>
        <p:nvSpPr>
          <p:cNvPr id="62" name="Freeform 8"/>
          <p:cNvSpPr/>
          <p:nvPr>
            <p:custDataLst>
              <p:tags r:id="rId4"/>
            </p:custDataLst>
          </p:nvPr>
        </p:nvSpPr>
        <p:spPr bwMode="auto">
          <a:xfrm>
            <a:off x="10588089" y="5231639"/>
            <a:ext cx="1603911" cy="1626357"/>
          </a:xfrm>
          <a:custGeom>
            <a:avLst/>
            <a:gdLst>
              <a:gd name="T0" fmla="*/ 281 w 281"/>
              <a:gd name="T1" fmla="*/ 0 h 286"/>
              <a:gd name="T2" fmla="*/ 0 w 281"/>
              <a:gd name="T3" fmla="*/ 286 h 286"/>
              <a:gd name="T4" fmla="*/ 100 w 281"/>
              <a:gd name="T5" fmla="*/ 286 h 286"/>
              <a:gd name="T6" fmla="*/ 281 w 281"/>
              <a:gd name="T7" fmla="*/ 103 h 286"/>
              <a:gd name="T8" fmla="*/ 281 w 281"/>
              <a:gd name="T9" fmla="*/ 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1" h="286">
                <a:moveTo>
                  <a:pt x="281" y="0"/>
                </a:moveTo>
                <a:lnTo>
                  <a:pt x="0" y="286"/>
                </a:lnTo>
                <a:lnTo>
                  <a:pt x="100" y="286"/>
                </a:lnTo>
                <a:lnTo>
                  <a:pt x="281" y="103"/>
                </a:lnTo>
                <a:lnTo>
                  <a:pt x="281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66000">
                <a:srgbClr val="7030A0"/>
              </a:gs>
            </a:gsLst>
            <a:lin ang="162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b="1" dirty="0"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393298" y="2943558"/>
            <a:ext cx="11602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自主跟随机器人平台</a:t>
            </a:r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11" cstate="screen"/>
          <a:srcRect r="82599"/>
          <a:stretch>
            <a:fillRect/>
          </a:stretch>
        </p:blipFill>
        <p:spPr>
          <a:xfrm>
            <a:off x="3686670" y="1736514"/>
            <a:ext cx="1026376" cy="102023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1" cstate="screen"/>
          <a:srcRect l="38615"/>
          <a:stretch>
            <a:fillRect/>
          </a:stretch>
        </p:blipFill>
        <p:spPr>
          <a:xfrm>
            <a:off x="4789640" y="1736514"/>
            <a:ext cx="3620830" cy="102023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702418" y="4015131"/>
            <a:ext cx="4787165" cy="2073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指导老师：深圳国际研究生院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工业工程系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严京滨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联合指导企业：轮上科技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0" y="203566"/>
            <a:ext cx="9258268" cy="60548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自主跟随机器人平台</a:t>
            </a:r>
            <a:endParaRPr lang="zh-CN" altLang="en-US" sz="2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3427" y="989097"/>
            <a:ext cx="3558104" cy="51727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5C30A0"/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411480" dist="123444" dir="5400000" sx="108000" sy="108000" algn="ctr" rotWithShape="0">
              <a:srgbClr val="5C30A0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>
            <a:defPPr>
              <a:defRPr lang="zh-CN"/>
            </a:defPPr>
            <a:lvl1pPr algn="ctr">
              <a:defRPr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项目背景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64079" y="4137209"/>
            <a:ext cx="3556800" cy="51727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5C30A0"/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411480" dist="123444" dir="5400000" sx="108000" sy="108000" algn="ctr" rotWithShape="0">
              <a:srgbClr val="5C30A0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>
            <a:defPPr>
              <a:defRPr lang="zh-CN"/>
            </a:defPPr>
            <a:lvl1pPr algn="ctr">
              <a:defRPr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项目意义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27332" y="1505311"/>
            <a:ext cx="3630295" cy="17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随着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家政服务机器人、商超服务机器人、智慧物流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等领域的快速发展，低成本、可扩展的自主跟随机器人平台成为研究与应用的热点。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81221" y="4656315"/>
            <a:ext cx="3522517" cy="17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提供可动手实践的一体化平台，降低学习门槛；为多传感器融合、轻量化目标跟踪、端侧深度学习等算法提供真实载体。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321833" y="989096"/>
            <a:ext cx="3620526" cy="51727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5C30A0"/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411480" dist="123444" dir="5400000" sx="108000" sy="108000" algn="ctr" rotWithShape="0">
              <a:srgbClr val="5C30A0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>
            <a:defPPr>
              <a:defRPr lang="zh-CN"/>
            </a:defPPr>
            <a:lvl1pPr algn="ctr">
              <a:defRPr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亟需性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4321296" y="4137209"/>
            <a:ext cx="3621600" cy="51727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5C30A0"/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411480" dist="123444" dir="5400000" sx="108000" sy="108000" algn="ctr" rotWithShape="0">
              <a:srgbClr val="5C30A0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>
            <a:defPPr>
              <a:defRPr lang="zh-CN"/>
            </a:defPPr>
            <a:lvl1pPr algn="ctr">
              <a:defRPr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先研基础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321833" y="1505311"/>
            <a:ext cx="3620526" cy="2122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现有跟随机器人产品价格高昂（普遍万元以上），缺少兼顾开源、低成本与足够性能的软硬件方案。轻量级自动驾驶算法的实车测试平台稀缺，研究者常需自行搭建。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334932" y="4656315"/>
            <a:ext cx="3594329" cy="17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OpenBot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开源项目已具备完整的手机遥控、自动导航及数据采集框架；已有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YOLO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MobileNet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-SSD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行人检测模型。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406566" y="989096"/>
            <a:ext cx="3522518" cy="51727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5C30A0"/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411480" dist="123444" dir="5400000" sx="108000" sy="108000" algn="ctr" rotWithShape="0">
              <a:srgbClr val="5C30A0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>
            <a:defPPr>
              <a:defRPr lang="zh-CN"/>
            </a:defPPr>
            <a:lvl1pPr algn="ctr">
              <a:defRPr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项目方案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8406567" y="4137208"/>
            <a:ext cx="3522517" cy="51727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5C30A0"/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411480" dist="123444" dir="5400000" sx="108000" sy="108000" algn="ctr" rotWithShape="0">
              <a:srgbClr val="5C30A0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>
            <a:defPPr>
              <a:defRPr lang="zh-CN"/>
            </a:defPPr>
            <a:lvl1pPr algn="ctr">
              <a:defRPr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支撑条件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406665" y="1505311"/>
            <a:ext cx="3522320" cy="2536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just">
              <a:lnSpc>
                <a:spcPct val="150000"/>
              </a:lnSpc>
              <a:buFont typeface="Arial" panose="02080604020202020204" pitchFamily="34" charset="0"/>
              <a:buNone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基于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OpenBot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软硬件架构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，实现下列功能：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自主跟随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：室内外平坦路面上稳定跟随指定行人。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避障绕行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：遇到静态障碍时可减速或绕行。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406566" y="4656315"/>
            <a:ext cx="3522518" cy="17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主要部件（车架、树莓派、摄像头、电机驱动）成本可控制在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1500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元以内，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Arduino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Android Studio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等工具链完整。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0" y="203566"/>
            <a:ext cx="9258268" cy="60548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自主跟随机器人平台</a:t>
            </a:r>
            <a:endParaRPr lang="zh-CN" altLang="en-US" sz="2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3061" y="963547"/>
            <a:ext cx="4067503" cy="51727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5C30A0"/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411480" dist="123444" dir="5400000" sx="108000" sy="108000" algn="ctr" rotWithShape="0">
              <a:srgbClr val="5C30A0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>
            <a:defPPr>
              <a:defRPr lang="zh-CN"/>
            </a:defPPr>
            <a:lvl1pPr algn="ctr">
              <a:defRPr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具体任务拆解（明确任务需求）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353910" y="963547"/>
            <a:ext cx="3528850" cy="51727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5C30A0"/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411480" dist="123444" dir="5400000" sx="108000" sy="108000" algn="ctr" rotWithShape="0">
              <a:srgbClr val="5C30A0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>
            <a:defPPr>
              <a:defRPr lang="zh-CN"/>
            </a:defPPr>
            <a:lvl1pPr algn="ctr">
              <a:defRPr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关键技术模块及技术难点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8106106" y="963546"/>
            <a:ext cx="3946633" cy="51727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5C30A0"/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411480" dist="123444" dir="5400000" sx="108000" sy="108000" algn="ctr" rotWithShape="0">
              <a:srgbClr val="5C30A0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>
            <a:defPPr>
              <a:defRPr lang="zh-CN"/>
            </a:defPPr>
            <a:lvl1pPr algn="ctr">
              <a:defRPr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项目预期出口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40336" y="1594762"/>
            <a:ext cx="3990228" cy="4198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硬件搭建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：采购底盘、树莓派、摄像头等，组装并测试基础运动控制。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算法开发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：部署轻量级行人检测模型，实现目标跟踪与跟随控制。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系统集成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：整合感知、决策、控制模块。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测试优化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：在室内外场景验证跟随稳定性，优化性能参数。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文档整理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：编写组装、部署、使用说明，开源代码。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442791" y="1594762"/>
            <a:ext cx="3442639" cy="2536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行人检测与跟踪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障碍物检测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路线规划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运动控制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人机交互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模块化设计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178165" y="1594762"/>
            <a:ext cx="3630295" cy="2953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一台完整可运行的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自动跟随小车实物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全套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模块化开源代码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（含模型、控制程序、手机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APP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）；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技术文档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实验报告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可选：申请专利、参加机器人相关竞赛。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9715" y="4744415"/>
            <a:ext cx="2010684" cy="1584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9297" y="4744415"/>
            <a:ext cx="1980000" cy="1584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75" y="4744415"/>
            <a:ext cx="2409635" cy="1584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7498" y="4744415"/>
            <a:ext cx="1347354" cy="1584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400</Words>
  <Application>Microsoft Macintosh PowerPoint</Application>
  <PresentationFormat>宽屏</PresentationFormat>
  <Paragraphs>39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宋体</vt:lpstr>
      <vt:lpstr>Microsoft YaHei</vt:lpstr>
      <vt:lpstr>Microsoft YaHei</vt:lpstr>
      <vt:lpstr>Arial</vt:lpstr>
      <vt:lpstr>Calibri</vt:lpstr>
      <vt:lpstr>Wingdings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 Wang</dc:creator>
  <cp:lastModifiedBy>Kahty Kim</cp:lastModifiedBy>
  <cp:revision>499</cp:revision>
  <dcterms:created xsi:type="dcterms:W3CDTF">2026-01-05T07:43:02Z</dcterms:created>
  <dcterms:modified xsi:type="dcterms:W3CDTF">2026-03-05T03:16:55Z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2052-12.1.2.22571</vt:lpwstr>
  </property>
  <property fmtid="{D5CDD505-2E9C-101B-9397-08002B2CF9AE}" pid="3" name="ICV">
    <vt:lpwstr>4D9795F8053BBCB7A6F849693F2BFE03_42</vt:lpwstr>
  </property>
</Properties>
</file>